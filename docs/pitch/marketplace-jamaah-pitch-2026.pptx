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D3A55"/>
                </a:solidFill>
                <a:latin typeface="Calibri"/>
              </a:rPr>
              <a:t>MARKETPLACE JAMAAH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9260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6B7591"/>
                </a:solidFill>
                <a:latin typeface="Calibri"/>
              </a:rPr>
              <a:t>01 / 12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30352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47857"/>
                </a:solidFill>
                <a:latin typeface="Calibri"/>
              </a:rPr>
              <a:t>QHOMEMART AI AGENT COMPETITION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85216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0B1020"/>
                </a:solidFill>
                <a:latin typeface="Calibri"/>
              </a:rPr>
              <a:t>16 AI Agents.</a:t>
            </a:r>
          </a:p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047857"/>
                </a:solidFill>
                <a:latin typeface="Calibri"/>
              </a:rPr>
              <a:t>Satu Marketplace.</a:t>
            </a:r>
          </a:p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0B1020"/>
                </a:solidFill>
                <a:latin typeface="Calibri"/>
              </a:rPr>
              <a:t>Cukup pakai WhatsApp.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17720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2D3A55"/>
                </a:solidFill>
                <a:latin typeface="Calibri"/>
              </a:rPr>
              <a:t>Sistem multi-agent yang mengubah obrolan WhatsApp Group pengajian menjadi marketplace digital — tanpa user perlu install aplikasi apapun.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532120"/>
            <a:ext cx="2926080" cy="411480"/>
          </a:xfrm>
          <a:prstGeom prst="roundRect">
            <a:avLst>
              <a:gd name="adj" fmla="val 50000"/>
            </a:avLst>
          </a:prstGeom>
          <a:solidFill>
            <a:srgbClr val="E7F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6052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47857"/>
                </a:solidFill>
                <a:latin typeface="Calibri"/>
              </a:rPr>
              <a:t>Build Real AI Agent. Solve Real Problems.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5532120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FEF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56052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45309"/>
                </a:solidFill>
                <a:latin typeface="Consolas"/>
              </a:rPr>
              <a:t>REG · WAGLI4HM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591"/>
                </a:solidFill>
                <a:latin typeface="Calibri"/>
              </a:rPr>
              <a:t>Jody Aryono · jodyaryono@gmail.com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591"/>
                </a:solidFill>
                <a:latin typeface="Calibri"/>
              </a:rPr>
              <a:t>marketplacejamaah-ai.jodyaryono.id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D3A55"/>
                </a:solidFill>
                <a:latin typeface="Calibri"/>
              </a:rPr>
              <a:t>MARKETPLACE JAMAAH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9260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6B7591"/>
                </a:solidFill>
                <a:latin typeface="Calibri"/>
              </a:rPr>
              <a:t>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47857"/>
                </a:solidFill>
                <a:latin typeface="Calibri"/>
              </a:rPr>
              <a:t>PROBLEM · MENGAPA PASAR TIDAK MELAYANI UMAT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B1020"/>
                </a:solidFill>
                <a:latin typeface="Calibri"/>
              </a:rPr>
              <a:t>Ekonomi umat terjadi di WAG.
Tapi marketplace digital tidak ramah komunitas.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08960"/>
            <a:ext cx="5120640" cy="3108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26480" y="3108960"/>
            <a:ext cx="557784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32461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B1020"/>
                </a:solidFill>
                <a:latin typeface="Calibri"/>
              </a:rPr>
              <a:t>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22783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1020"/>
                </a:solidFill>
                <a:latin typeface="Calibri"/>
              </a:rPr>
              <a:t>Tidak mau install marketplace baru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56616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D3A55"/>
                </a:solidFill>
                <a:latin typeface="Calibri"/>
              </a:rPr>
              <a:t>Ibu-ibu pengajian, ustadz, lansia — UX modern marketplace terlalu tinggi sebagai entry barrier.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206240"/>
            <a:ext cx="557784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43434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B1020"/>
                </a:solidFill>
                <a:latin typeface="Calibri"/>
              </a:rPr>
              <a:t>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32511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1020"/>
                </a:solidFill>
                <a:latin typeface="Calibri"/>
              </a:rPr>
              <a:t>Iklan tenggelam dalam ratusan pesan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66344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D3A55"/>
                </a:solidFill>
                <a:latin typeface="Calibri"/>
              </a:rPr>
              <a:t>Tidak ada history searchable, link permanen, atau pencarian. Pembeli baru tidak bisa lihat iklan lama.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5303520"/>
            <a:ext cx="557784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54406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B1020"/>
                </a:solidFill>
                <a:latin typeface="Calibri"/>
              </a:rPr>
              <a:t>🛡️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542239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1020"/>
                </a:solidFill>
                <a:latin typeface="Calibri"/>
              </a:rPr>
              <a:t>Admin kewalahan moderasi manual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576072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D3A55"/>
                </a:solidFill>
                <a:latin typeface="Calibri"/>
              </a:rPr>
              <a:t>Scam, judol, riba, pesan non-jualan — semua moderasi manual. Tidak skalabel.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591"/>
                </a:solidFill>
                <a:latin typeface="Calibri"/>
              </a:rPr>
              <a:t>Konteks: 1 WAG aktif, ratusan jamaah, transaksi UMKM Muslim halal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MARKETPLACE JAMAAH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9260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CCD1E0"/>
                </a:solidFill>
                <a:latin typeface="Calibri"/>
              </a:rPr>
              <a:t>03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EE7B7"/>
                </a:solidFill>
                <a:latin typeface="Calibri"/>
              </a:rPr>
              <a:t>THE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Jangan paksa jamaah pindah platform.
Bawa platform ke tempat mereka sudah berkumpul.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CCD9F0"/>
                </a:solidFill>
                <a:latin typeface="Calibri"/>
              </a:rPr>
              <a:t>WhatsApp = aplikasi yang sudah dibuka 50x sehari, sudah dipercaya, sudah dikuasai. AI yang bekerja di sana = adopsi instan tanpa learning curve.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023360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18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41605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>
                <a:solidFill>
                  <a:srgbClr val="F59E0B"/>
                </a:solidFill>
                <a:latin typeface="Calibri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50749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CCD9F0"/>
                </a:solidFill>
                <a:latin typeface="Calibri"/>
              </a:rPr>
              <a:t>Jamaah Indonesia
pakai WhatsApp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023360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18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41605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>
                <a:solidFill>
                  <a:srgbClr val="F59E0B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50749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CCD9F0"/>
                </a:solidFill>
                <a:latin typeface="Calibri"/>
              </a:rPr>
              <a:t>Aplikasi baru
yang harus diinstall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023360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18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41605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>
                <a:solidFill>
                  <a:srgbClr val="F59E0B"/>
                </a:solidFill>
                <a:latin typeface="Calibri"/>
              </a:rPr>
              <a:t>3-7s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50749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CCD9F0"/>
                </a:solidFill>
                <a:latin typeface="Calibri"/>
              </a:rPr>
              <a:t>Pesan → listing
live di marketplace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334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CCD1E0"/>
                </a:solidFill>
                <a:latin typeface="Calibri"/>
              </a:rPr>
              <a:t>Adopsi tanpa friction = winning UX strategy untuk grassroots community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D3A55"/>
                </a:solidFill>
                <a:latin typeface="Calibri"/>
              </a:rPr>
              <a:t>MARKETPLACE JAMAAH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9260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6B7591"/>
                </a:solidFill>
                <a:latin typeface="Calibri"/>
              </a:rPr>
              <a:t>04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47857"/>
                </a:solidFill>
                <a:latin typeface="Calibri"/>
              </a:rPr>
              <a:t>SOLUSI · MAGIC DALAM 1 PESAN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1020"/>
                </a:solidFill>
                <a:latin typeface="Calibri"/>
              </a:rPr>
              <a:t>Penjual kirim pesan biasa.
AI mengubahnya jadi listing lengkap.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77440"/>
            <a:ext cx="5486400" cy="3840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2377440"/>
            <a:ext cx="5303520" cy="1554480"/>
          </a:xfrm>
          <a:prstGeom prst="roundRect">
            <a:avLst>
              <a:gd name="adj" fmla="val 10000"/>
            </a:avLst>
          </a:prstGeom>
          <a:solidFill>
            <a:srgbClr val="DCF8E9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47857"/>
                </a:solidFill>
                <a:latin typeface="Calibri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1020"/>
                </a:solidFill>
                <a:latin typeface="Consolas"/>
              </a:rPr>
              <a:t>"Jual Kurma Ajwa Premium 1kg Rp 280.000
Lokasi Bandung, fresh stock
WA 0858-1234-5678"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B45309"/>
                </a:solidFill>
                <a:latin typeface="Calibri"/>
              </a:rPr>
              <a:t>↓ AI extract + classify + moderate + enrich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434840"/>
            <a:ext cx="530352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5262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E3A8A"/>
                </a:solidFill>
                <a:latin typeface="Calibri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80060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7591"/>
                </a:solidFill>
                <a:latin typeface="Consolas"/>
              </a:rPr>
              <a:t>Title:  </a:t>
            </a:r>
            <a:r>
              <a:rPr sz="1100" b="1" i="0">
                <a:solidFill>
                  <a:srgbClr val="0B1020"/>
                </a:solidFill>
                <a:latin typeface="Consolas"/>
              </a:rPr>
              <a:t>Kurma Ajwa Premium 1kg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7591"/>
                </a:solidFill>
                <a:latin typeface="Consolas"/>
              </a:rPr>
              <a:t>Price:  </a:t>
            </a:r>
            <a:r>
              <a:rPr sz="1100" b="1" i="0">
                <a:solidFill>
                  <a:srgbClr val="047857"/>
                </a:solidFill>
                <a:latin typeface="Consolas"/>
              </a:rPr>
              <a:t>Rp 280.000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7591"/>
                </a:solidFill>
                <a:latin typeface="Consolas"/>
              </a:rPr>
              <a:t>Cat:    </a:t>
            </a:r>
            <a:r>
              <a:rPr sz="1100" b="0" i="0">
                <a:solidFill>
                  <a:srgbClr val="0B1020"/>
                </a:solidFill>
                <a:latin typeface="Consolas"/>
              </a:rPr>
              <a:t>Makanan &amp; Minuman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7591"/>
                </a:solidFill>
                <a:latin typeface="Consolas"/>
              </a:rPr>
              <a:t>Loc:    </a:t>
            </a:r>
            <a:r>
              <a:rPr sz="1100" b="0" i="0">
                <a:solidFill>
                  <a:srgbClr val="0B1020"/>
                </a:solidFill>
                <a:latin typeface="Consolas"/>
              </a:rPr>
              <a:t>Bandung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7591"/>
                </a:solidFill>
                <a:latin typeface="Consolas"/>
              </a:rPr>
              <a:t>WA:     </a:t>
            </a:r>
            <a:r>
              <a:rPr sz="1100" b="0" i="0">
                <a:solidFill>
                  <a:srgbClr val="0B1020"/>
                </a:solidFill>
                <a:latin typeface="Consolas"/>
              </a:rPr>
              <a:t>6285812345678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047857"/>
                </a:solidFill>
                <a:latin typeface="Consolas"/>
              </a:rPr>
              <a:t>URL:    /p/297 ✓ live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591"/>
                </a:solidFill>
                <a:latin typeface="Calibri"/>
              </a:rPr>
              <a:t>Demo command: php artisan demo:pipeline ad — 7 agents berkolaborasi dalam ~3 detik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D3A55"/>
                </a:solidFill>
                <a:latin typeface="Calibri"/>
              </a:rPr>
              <a:t>MARKETPLACE JAMAAH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9260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6B7591"/>
                </a:solidFill>
                <a:latin typeface="Calibri"/>
              </a:rPr>
              <a:t>05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47857"/>
                </a:solidFill>
                <a:latin typeface="Calibri"/>
              </a:rPr>
              <a:t>KEMUDAHAN · UNTUK SETIAP GENERASI JAMAAH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0B1020"/>
                </a:solidFill>
                <a:latin typeface="Calibri"/>
              </a:rPr>
              <a:t>Marketplace Jamaah AI vs Marketplace Konvensional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3291840" cy="548640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04872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D3A55"/>
                </a:solidFill>
                <a:latin typeface="Calibri"/>
              </a:rPr>
              <a:t>Aspek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2286000"/>
            <a:ext cx="4023360" cy="5486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2404872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Marketplace Lain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2286000"/>
            <a:ext cx="4023360" cy="54864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404872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Marketplace Jamaah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34639"/>
            <a:ext cx="329184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53511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D3A55"/>
                </a:solidFill>
                <a:latin typeface="Calibri"/>
              </a:rPr>
              <a:t>Install aplikasi baru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2834639"/>
            <a:ext cx="402336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2953511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D3A55"/>
                </a:solidFill>
                <a:latin typeface="Calibri"/>
              </a:rPr>
              <a:t>✗ Wajib download &amp; register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2834639"/>
            <a:ext cx="4023360" cy="502920"/>
          </a:xfrm>
          <a:prstGeom prst="rect">
            <a:avLst/>
          </a:prstGeom>
          <a:solidFill>
            <a:srgbClr val="E7FAF2"/>
          </a:solidFill>
          <a:ln w="635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953511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47857"/>
                </a:solidFill>
                <a:latin typeface="Calibri"/>
              </a:rPr>
              <a:t>✓ Cukup pakai WhatsApp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337560"/>
            <a:ext cx="3291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456432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D3A55"/>
                </a:solidFill>
                <a:latin typeface="Calibri"/>
              </a:rPr>
              <a:t>Belajar UI baru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3337560"/>
            <a:ext cx="4023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3456432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D3A55"/>
                </a:solidFill>
                <a:latin typeface="Calibri"/>
              </a:rPr>
              <a:t>✗ Banyak menu, form, captcha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3337560"/>
            <a:ext cx="4023360" cy="502920"/>
          </a:xfrm>
          <a:prstGeom prst="rect">
            <a:avLst/>
          </a:prstGeom>
          <a:solidFill>
            <a:srgbClr val="E7FAF2"/>
          </a:solidFill>
          <a:ln w="635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3456432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47857"/>
                </a:solidFill>
                <a:latin typeface="Calibri"/>
              </a:rPr>
              <a:t>✓ Chat seperti biasa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840480"/>
            <a:ext cx="329184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959352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D3A55"/>
                </a:solidFill>
                <a:latin typeface="Calibri"/>
              </a:rPr>
              <a:t>Upload foto produk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23360" y="3840480"/>
            <a:ext cx="402336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0" y="3959352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D3A55"/>
                </a:solidFill>
                <a:latin typeface="Calibri"/>
              </a:rPr>
              <a:t>✗ Resize, crop, fill 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3840480"/>
            <a:ext cx="4023360" cy="502920"/>
          </a:xfrm>
          <a:prstGeom prst="rect">
            <a:avLst/>
          </a:prstGeom>
          <a:solidFill>
            <a:srgbClr val="E7FAF2"/>
          </a:solidFill>
          <a:ln w="635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3959352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47857"/>
                </a:solidFill>
                <a:latin typeface="Calibri"/>
              </a:rPr>
              <a:t>✓ Kirim foto di WAG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343400"/>
            <a:ext cx="3291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462272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D3A55"/>
                </a:solidFill>
                <a:latin typeface="Calibri"/>
              </a:rPr>
              <a:t>Cara cari produk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23360" y="4343400"/>
            <a:ext cx="4023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0" y="4462272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D3A55"/>
                </a:solidFill>
                <a:latin typeface="Calibri"/>
              </a:rPr>
              <a:t>✗ Search bar di app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4343400"/>
            <a:ext cx="4023360" cy="502920"/>
          </a:xfrm>
          <a:prstGeom prst="rect">
            <a:avLst/>
          </a:prstGeom>
          <a:solidFill>
            <a:srgbClr val="E7FAF2"/>
          </a:solidFill>
          <a:ln w="635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4462272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47857"/>
                </a:solidFill>
                <a:latin typeface="Calibri"/>
              </a:rPr>
              <a:t>✓ DM bot: "cari kurma"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846320"/>
            <a:ext cx="329184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965192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D3A55"/>
                </a:solidFill>
                <a:latin typeface="Calibri"/>
              </a:rPr>
              <a:t>Update status terjual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23360" y="4846320"/>
            <a:ext cx="402336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0" y="4965192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D3A55"/>
                </a:solidFill>
                <a:latin typeface="Calibri"/>
              </a:rPr>
              <a:t>✗ Login → edit → submit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60" y="4846320"/>
            <a:ext cx="4023360" cy="502920"/>
          </a:xfrm>
          <a:prstGeom prst="rect">
            <a:avLst/>
          </a:prstGeom>
          <a:solidFill>
            <a:srgbClr val="E7FAF2"/>
          </a:solidFill>
          <a:ln w="635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4965192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47857"/>
                </a:solidFill>
                <a:latin typeface="Calibri"/>
              </a:rPr>
              <a:t>✓ Reply: "sudah laku"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349240"/>
            <a:ext cx="3291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468112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D3A55"/>
                </a:solidFill>
                <a:latin typeface="Calibri"/>
              </a:rPr>
              <a:t>Komunitas tepercaya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23360" y="5349240"/>
            <a:ext cx="4023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06240" y="5468112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D3A55"/>
                </a:solidFill>
                <a:latin typeface="Calibri"/>
              </a:rPr>
              <a:t>✗ Marketplace umum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38160" y="5349240"/>
            <a:ext cx="4023360" cy="502920"/>
          </a:xfrm>
          <a:prstGeom prst="rect">
            <a:avLst/>
          </a:prstGeom>
          <a:solidFill>
            <a:srgbClr val="E7FAF2"/>
          </a:solidFill>
          <a:ln w="635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0" y="5468112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47857"/>
                </a:solidFill>
                <a:latin typeface="Calibri"/>
              </a:rPr>
              <a:t>✓ Sesama jamaah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591"/>
                </a:solidFill>
                <a:latin typeface="Calibri"/>
              </a:rPr>
              <a:t>Built for ibu-ibu pengajian, ustadz, lansia, dan generasi muda — semua bisa pakai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D3A55"/>
                </a:solidFill>
                <a:latin typeface="Calibri"/>
              </a:rPr>
              <a:t>MARKETPLACE JAMAAH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9260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6B7591"/>
                </a:solidFill>
                <a:latin typeface="Calibri"/>
              </a:rPr>
              <a:t>06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47857"/>
                </a:solidFill>
                <a:latin typeface="Calibri"/>
              </a:rPr>
              <a:t>ARSITEKTUR · KRITERIA #2 KOLABORASI TERSTRUKTUR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1020"/>
                </a:solidFill>
                <a:latin typeface="Calibri"/>
              </a:rPr>
              <a:t>5 Layer · 16 Agents · 1 Orchestrator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011680"/>
            <a:ext cx="493776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21488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🎧 Listener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2057400"/>
            <a:ext cx="1906524" cy="457200"/>
          </a:xfrm>
          <a:prstGeom prst="roundRect">
            <a:avLst>
              <a:gd name="adj" fmla="val 50000"/>
            </a:avLst>
          </a:prstGeom>
          <a:solidFill>
            <a:srgbClr val="E3EAFA"/>
          </a:solidFill>
          <a:ln w="63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79" y="2176272"/>
            <a:ext cx="16322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E3A8A"/>
                </a:solidFill>
                <a:latin typeface="Calibri"/>
              </a:rPr>
              <a:t>WhatsAppListenerAgent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5309"/>
                </a:solidFill>
                <a:latin typeface="Calibri"/>
              </a:rPr>
              <a:t>🧭 Brain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3120" y="2834640"/>
            <a:ext cx="1673352" cy="457200"/>
          </a:xfrm>
          <a:prstGeom prst="roundRect">
            <a:avLst>
              <a:gd name="adj" fmla="val 50000"/>
            </a:avLst>
          </a:prstGeom>
          <a:solidFill>
            <a:srgbClr val="FEF1D9"/>
          </a:solidFill>
          <a:ln w="63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79" y="2953512"/>
            <a:ext cx="1399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B45309"/>
                </a:solidFill>
                <a:latin typeface="Calibri"/>
              </a:rPr>
              <a:t>MasterCommandAgent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2834640"/>
            <a:ext cx="1284732" cy="457200"/>
          </a:xfrm>
          <a:prstGeom prst="roundRect">
            <a:avLst>
              <a:gd name="adj" fmla="val 50000"/>
            </a:avLst>
          </a:prstGeom>
          <a:solidFill>
            <a:srgbClr val="FEF1D9"/>
          </a:solidFill>
          <a:ln w="63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0" y="2953512"/>
            <a:ext cx="10104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B45309"/>
                </a:solidFill>
                <a:latin typeface="Calibri"/>
              </a:rPr>
              <a:t>BotQueryAgent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033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🔍 Perception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03120" y="3611880"/>
            <a:ext cx="1284732" cy="457200"/>
          </a:xfrm>
          <a:prstGeom prst="roundRect">
            <a:avLst>
              <a:gd name="adj" fmla="val 50000"/>
            </a:avLst>
          </a:prstGeom>
          <a:solidFill>
            <a:srgbClr val="E3EAFA"/>
          </a:solidFill>
          <a:ln w="63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40279" y="3730752"/>
            <a:ext cx="10104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E3A8A"/>
                </a:solidFill>
                <a:latin typeface="Calibri"/>
              </a:rPr>
              <a:t>MessageParser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97579" y="3611880"/>
            <a:ext cx="1207008" cy="457200"/>
          </a:xfrm>
          <a:prstGeom prst="roundRect">
            <a:avLst>
              <a:gd name="adj" fmla="val 50000"/>
            </a:avLst>
          </a:prstGeom>
          <a:solidFill>
            <a:srgbClr val="E3EAFA"/>
          </a:solidFill>
          <a:ln w="63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4739" y="373075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E3A8A"/>
                </a:solidFill>
                <a:latin typeface="Calibri"/>
              </a:rPr>
              <a:t>AdClassifier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14316" y="3611880"/>
            <a:ext cx="1595628" cy="457200"/>
          </a:xfrm>
          <a:prstGeom prst="roundRect">
            <a:avLst>
              <a:gd name="adj" fmla="val 50000"/>
            </a:avLst>
          </a:prstGeom>
          <a:solidFill>
            <a:srgbClr val="E3EAFA"/>
          </a:solidFill>
          <a:ln w="63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51476" y="3730752"/>
            <a:ext cx="13213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E3A8A"/>
                </a:solidFill>
                <a:latin typeface="Calibri"/>
              </a:rPr>
              <a:t>MessageModeration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805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47857"/>
                </a:solidFill>
                <a:latin typeface="Calibri"/>
              </a:rPr>
              <a:t>🛠 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03120" y="4389120"/>
            <a:ext cx="1284732" cy="457200"/>
          </a:xfrm>
          <a:prstGeom prst="roundRect">
            <a:avLst>
              <a:gd name="adj" fmla="val 50000"/>
            </a:avLst>
          </a:prstGeom>
          <a:solidFill>
            <a:srgbClr val="DCF8E9"/>
          </a:solidFill>
          <a:ln w="635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40279" y="4507992"/>
            <a:ext cx="10104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47857"/>
                </a:solidFill>
                <a:latin typeface="Calibri"/>
              </a:rPr>
              <a:t>DataExtractor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97579" y="4389120"/>
            <a:ext cx="973836" cy="457200"/>
          </a:xfrm>
          <a:prstGeom prst="roundRect">
            <a:avLst>
              <a:gd name="adj" fmla="val 50000"/>
            </a:avLst>
          </a:prstGeom>
          <a:solidFill>
            <a:srgbClr val="DCF8E9"/>
          </a:solidFill>
          <a:ln w="635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34739" y="4507992"/>
            <a:ext cx="6995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47857"/>
                </a:solidFill>
                <a:latin typeface="Calibri"/>
              </a:rPr>
              <a:t>AdBuilder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81144" y="4389120"/>
            <a:ext cx="1129284" cy="457200"/>
          </a:xfrm>
          <a:prstGeom prst="roundRect">
            <a:avLst>
              <a:gd name="adj" fmla="val 50000"/>
            </a:avLst>
          </a:prstGeom>
          <a:solidFill>
            <a:srgbClr val="DCF8E9"/>
          </a:solidFill>
          <a:ln w="635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18304" y="4507992"/>
            <a:ext cx="8549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47857"/>
                </a:solidFill>
                <a:latin typeface="Calibri"/>
              </a:rPr>
              <a:t>ListingEdit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20156" y="4389120"/>
            <a:ext cx="960120" cy="457200"/>
          </a:xfrm>
          <a:prstGeom prst="roundRect">
            <a:avLst>
              <a:gd name="adj" fmla="val 50000"/>
            </a:avLst>
          </a:prstGeom>
          <a:solidFill>
            <a:srgbClr val="DCF8E9"/>
          </a:solidFill>
          <a:ln w="635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57316" y="450799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47857"/>
                </a:solidFill>
                <a:latin typeface="Calibri"/>
              </a:rPr>
              <a:t>Search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257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B21A8"/>
                </a:solidFill>
                <a:latin typeface="Calibri"/>
              </a:rPr>
              <a:t>📤 Output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03120" y="5166359"/>
            <a:ext cx="973836" cy="457200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 w="6350">
            <a:solidFill>
              <a:srgbClr val="6B2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5285231"/>
            <a:ext cx="6995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6B21A8"/>
                </a:solidFill>
                <a:latin typeface="Calibri"/>
              </a:rPr>
              <a:t>Broadcast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86684" y="5166359"/>
            <a:ext cx="1440180" cy="457200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 w="6350">
            <a:solidFill>
              <a:srgbClr val="6B2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23844" y="5285231"/>
            <a:ext cx="11658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6B21A8"/>
                </a:solidFill>
                <a:latin typeface="Calibri"/>
              </a:rPr>
              <a:t>GroupAdminReply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36592" y="5166359"/>
            <a:ext cx="1517904" cy="457200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 w="6350">
            <a:solidFill>
              <a:srgbClr val="6B2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73752" y="5285231"/>
            <a:ext cx="1243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6B21A8"/>
                </a:solidFill>
                <a:latin typeface="Calibri"/>
              </a:rPr>
              <a:t>MemberOnboarding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591"/>
                </a:solidFill>
                <a:latin typeface="Calibri"/>
              </a:rPr>
              <a:t>Blackboard pattern · Single orchestrator (ProcessMessageJob.php) · LLM-agnostic (Gemini/Groq swappable)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D3A55"/>
                </a:solidFill>
                <a:latin typeface="Calibri"/>
              </a:rPr>
              <a:t>MARKETPLACE JAMAAH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9260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6B7591"/>
                </a:solidFill>
                <a:latin typeface="Calibri"/>
              </a:rPr>
              <a:t>07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47857"/>
                </a:solidFill>
                <a:latin typeface="Calibri"/>
              </a:rPr>
              <a:t>LIVE REASONING TRACE · KRITERIA #1 &amp; LOG INTERAKSI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0B1020"/>
                </a:solidFill>
                <a:latin typeface="Calibri"/>
              </a:rPr>
              <a:t>Setiap interaksi tercatat &amp; dapat dilacak.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D3A55"/>
                </a:solidFill>
                <a:latin typeface="Calibri"/>
              </a:rPr>
              <a:t>Output nyata dari `php artisan demo:pipeline ad` di production — 7 agents berkolaborasi dalam 19 detik: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286000"/>
            <a:ext cx="4389120" cy="3657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2359152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3230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331720"/>
            <a:ext cx="6035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40487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020"/>
                </a:solidFill>
                <a:latin typeface="Calibri"/>
              </a:rPr>
              <a:t>MemberOnboardingAgent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23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591"/>
                </a:solidFill>
                <a:latin typeface="Consolas"/>
              </a:rPr>
              <a:t>action=onboarding_dm_sent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4231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047857"/>
                </a:solidFill>
                <a:latin typeface="Consolas"/>
              </a:rPr>
              <a:t>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07792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98094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2880360"/>
            <a:ext cx="6035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29535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020"/>
                </a:solidFill>
                <a:latin typeface="Calibri"/>
              </a:rPr>
              <a:t>MessageParserAgent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971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591"/>
                </a:solidFill>
                <a:latin typeface="Consolas"/>
              </a:rPr>
              <a:t>word_count=12, has_price=true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971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047857"/>
                </a:solidFill>
                <a:latin typeface="Consolas"/>
              </a:rPr>
              <a:t>9ms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456432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52958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429000"/>
            <a:ext cx="6035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35021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020"/>
                </a:solidFill>
                <a:latin typeface="Calibri"/>
              </a:rPr>
              <a:t>AdClassifierAgent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5204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591"/>
                </a:solidFill>
                <a:latin typeface="Consolas"/>
              </a:rPr>
              <a:t>is_ad=true, conf=1.0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5204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047857"/>
                </a:solidFill>
                <a:latin typeface="Consolas"/>
              </a:rPr>
              <a:t>2.9s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005072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07822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3977639"/>
            <a:ext cx="6035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4050791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020"/>
                </a:solidFill>
                <a:latin typeface="Calibri"/>
              </a:rPr>
              <a:t>MessageModerationAgent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069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591"/>
                </a:solidFill>
                <a:latin typeface="Consolas"/>
              </a:rPr>
              <a:t>is_violation=false (skipped)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0690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047857"/>
                </a:solidFill>
                <a:latin typeface="Consolas"/>
              </a:rPr>
              <a:t>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553712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62686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7280" y="4526280"/>
            <a:ext cx="6035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80160" y="45994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020"/>
                </a:solidFill>
                <a:latin typeface="Calibri"/>
              </a:rPr>
              <a:t>DataExtractorAgent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4617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591"/>
                </a:solidFill>
                <a:latin typeface="Consolas"/>
              </a:rPr>
              <a:t>Kurma Ajwa, Rp 280k, Bandung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6177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047857"/>
                </a:solidFill>
                <a:latin typeface="Consolas"/>
              </a:rPr>
              <a:t>5.3s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102352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17550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97280" y="5074920"/>
            <a:ext cx="6035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80160" y="514807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020"/>
                </a:solidFill>
                <a:latin typeface="Calibri"/>
              </a:rPr>
              <a:t>BroadcastAgent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5166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591"/>
                </a:solidFill>
                <a:latin typeface="Consolas"/>
              </a:rPr>
              <a:t>WS event dispatched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1663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047857"/>
                </a:solidFill>
                <a:latin typeface="Consolas"/>
              </a:rPr>
              <a:t>4.8s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650992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72414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97280" y="5623559"/>
            <a:ext cx="6035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80160" y="56967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020"/>
                </a:solidFill>
                <a:latin typeface="Calibri"/>
              </a:rPr>
              <a:t>GroupAdminReplyAgent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0" y="5715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591"/>
                </a:solidFill>
                <a:latin typeface="Consolas"/>
              </a:rPr>
              <a:t>✅ Iklan tercatat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57150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047857"/>
                </a:solidFill>
                <a:latin typeface="Consolas"/>
              </a:rPr>
              <a:t>4.3s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591"/>
                </a:solidFill>
                <a:latin typeface="Calibri"/>
              </a:rPr>
              <a:t>Stored in agent_logs table: input_payload (JSON), output_payload (JSON), status, duration_ms · Listing #297 created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MARKETPLACE JAMAAH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9260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CCD1E0"/>
                </a:solidFill>
                <a:latin typeface="Calibri"/>
              </a:rPr>
              <a:t>08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EE7B7"/>
                </a:solidFill>
                <a:latin typeface="Calibri"/>
              </a:rPr>
              <a:t>DAMPAK DUNIA NYATA · KRITERIA #3 (PRODUCTION DATA)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Production data, bukan proyeksi.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828800"/>
            <a:ext cx="4023360" cy="4023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1828800"/>
            <a:ext cx="6858000" cy="1554480"/>
          </a:xfrm>
          <a:prstGeom prst="roundRect">
            <a:avLst>
              <a:gd name="adj" fmla="val 6000"/>
            </a:avLst>
          </a:prstGeom>
          <a:solidFill>
            <a:srgbClr val="18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59E0B"/>
                </a:solidFill>
                <a:latin typeface="Calibri"/>
              </a:rPr>
              <a:t>ACTIVE INVENTORY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FFFFFF"/>
                </a:solidFill>
                <a:latin typeface="Calibri"/>
              </a:rPr>
              <a:t>Rp 27 Miliar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63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CD9F0"/>
                </a:solidFill>
                <a:latin typeface="Calibri"/>
              </a:rPr>
              <a:t>Total nilai produk aktif yang ditampilkan di marketplace dari obrolan WAG pengajian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11880"/>
            <a:ext cx="2194560" cy="1143000"/>
          </a:xfrm>
          <a:prstGeom prst="roundRect">
            <a:avLst>
              <a:gd name="adj" fmla="val 8000"/>
            </a:avLst>
          </a:prstGeom>
          <a:solidFill>
            <a:srgbClr val="18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B981"/>
                </a:solidFill>
                <a:latin typeface="Calibri"/>
              </a:rPr>
              <a:t>268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60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Listings auto-created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165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CA8C4"/>
                </a:solidFill>
                <a:latin typeface="Calibri"/>
              </a:rPr>
              <a:t>132 dalam 30 hari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3611880"/>
            <a:ext cx="2194560" cy="1143000"/>
          </a:xfrm>
          <a:prstGeom prst="roundRect">
            <a:avLst>
              <a:gd name="adj" fmla="val 8000"/>
            </a:avLst>
          </a:prstGeom>
          <a:solidFill>
            <a:srgbClr val="18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3240" y="37033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B981"/>
                </a:solidFill>
                <a:latin typeface="Calibri"/>
              </a:rPr>
              <a:t>275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4160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Jamaah ter-onboard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44165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CA8C4"/>
                </a:solidFill>
                <a:latin typeface="Calibri"/>
              </a:rPr>
              <a:t>26 baru dalam 30 hari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79" y="3611880"/>
            <a:ext cx="2194560" cy="1143000"/>
          </a:xfrm>
          <a:prstGeom prst="roundRect">
            <a:avLst>
              <a:gd name="adj" fmla="val 8000"/>
            </a:avLst>
          </a:prstGeom>
          <a:solidFill>
            <a:srgbClr val="18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59" y="37033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59E0B"/>
                </a:solidFill>
                <a:latin typeface="Calibri"/>
              </a:rPr>
              <a:t>3.156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59" y="4160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Agent calls / 30 hari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59" y="44165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CA8C4"/>
                </a:solidFill>
                <a:latin typeface="Calibri"/>
              </a:rPr>
              <a:t>~105 per hari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892040"/>
            <a:ext cx="2194560" cy="1143000"/>
          </a:xfrm>
          <a:prstGeom prst="roundRect">
            <a:avLst>
              <a:gd name="adj" fmla="val 8000"/>
            </a:avLst>
          </a:prstGeom>
          <a:solidFill>
            <a:srgbClr val="18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983479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59E0B"/>
                </a:solidFill>
                <a:latin typeface="Calibri"/>
              </a:rPr>
              <a:t>2.778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44067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WAG messages diproses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6967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CA8C4"/>
                </a:solidFill>
                <a:latin typeface="Calibri"/>
              </a:rPr>
              <a:t>1.274 dalam 30 hari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80360" y="4892040"/>
            <a:ext cx="2194560" cy="1143000"/>
          </a:xfrm>
          <a:prstGeom prst="roundRect">
            <a:avLst>
              <a:gd name="adj" fmla="val 8000"/>
            </a:avLst>
          </a:prstGeom>
          <a:solidFill>
            <a:srgbClr val="18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63240" y="4983479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B981"/>
                </a:solidFill>
                <a:latin typeface="Calibri"/>
              </a:rPr>
              <a:t>97%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544067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ImageAnalyzer success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56967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CA8C4"/>
                </a:solidFill>
                <a:latin typeface="Calibri"/>
              </a:rPr>
              <a:t>252/260 calls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12079" y="4892040"/>
            <a:ext cx="2194560" cy="1143000"/>
          </a:xfrm>
          <a:prstGeom prst="roundRect">
            <a:avLst>
              <a:gd name="adj" fmla="val 8000"/>
            </a:avLst>
          </a:prstGeom>
          <a:solidFill>
            <a:srgbClr val="18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4959" y="4983479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59" y="544067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Extractor success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59" y="56967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CA8C4"/>
                </a:solidFill>
                <a:latin typeface="Calibri"/>
              </a:rPr>
              <a:t>111/111 calls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334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CCD1E0"/>
                </a:solidFill>
                <a:latin typeface="Calibri"/>
              </a:rPr>
              <a:t>Sumber: production agent_logs &amp; listings tables · 30 hari per 7 Mei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D3A55"/>
                </a:solidFill>
                <a:latin typeface="Calibri"/>
              </a:rPr>
              <a:t>MARKETPLACE JAMAAH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9260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6B7591"/>
                </a:solidFill>
                <a:latin typeface="Calibri"/>
              </a:rPr>
              <a:t>09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47857"/>
                </a:solidFill>
                <a:latin typeface="Calibri"/>
              </a:rPr>
              <a:t>IMPACT · BAGI JAMAAH (PENJUAL UMKM MUSLIM)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1020"/>
                </a:solidFill>
                <a:latin typeface="Calibri"/>
              </a:rPr>
              <a:t>Akses ekonomi tanpa friction.
Martabat tetap terjaga.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68880"/>
            <a:ext cx="5303520" cy="3657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26480" y="2468880"/>
            <a:ext cx="55778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257860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B1020"/>
                </a:solidFill>
                <a:latin typeface="Calibri"/>
              </a:rPr>
              <a:t>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56032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020"/>
                </a:solidFill>
                <a:latin typeface="Calibri"/>
              </a:rPr>
              <a:t>Income tambahan untuk keluarga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8803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D3A55"/>
                </a:solidFill>
                <a:latin typeface="Calibri"/>
              </a:rPr>
              <a:t>UMKM rumahan (kurma, kerudung, baju gamis, makanan halal) jadi punya saluran penjualan tanpa skill digital.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429000"/>
            <a:ext cx="55778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353872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B1020"/>
                </a:solidFill>
                <a:latin typeface="Calibri"/>
              </a:rPr>
              <a:t>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52044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020"/>
                </a:solidFill>
                <a:latin typeface="Calibri"/>
              </a:rPr>
              <a:t>Tidak perlu HP canggih atau paket data besar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8404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D3A55"/>
                </a:solidFill>
                <a:latin typeface="Calibri"/>
              </a:rPr>
              <a:t>WhatsApp ringan, kerja di Android murah, di area dengan sinyal lemah sekalipun.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389120"/>
            <a:ext cx="55778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44988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B1020"/>
                </a:solidFill>
                <a:latin typeface="Calibri"/>
              </a:rPr>
              <a:t>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48056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020"/>
                </a:solidFill>
                <a:latin typeface="Calibri"/>
              </a:rPr>
              <a:t>Eksposur lebih luas dari sebelumnya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8006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D3A55"/>
                </a:solidFill>
                <a:latin typeface="Calibri"/>
              </a:rPr>
              <a:t>Iklan tidak tenggelam — punya link permanen yang bisa di-share ke WAG lain, Status WA, dan grup keluarga.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5349240"/>
            <a:ext cx="55778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545896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B1020"/>
                </a:solidFill>
                <a:latin typeface="Calibri"/>
              </a:rPr>
              <a:t>🛡️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54406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020"/>
                </a:solidFill>
                <a:latin typeface="Calibri"/>
              </a:rPr>
              <a:t>Lingkungan jualan yang dipercaya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57607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D3A55"/>
                </a:solidFill>
                <a:latin typeface="Calibri"/>
              </a:rPr>
              <a:t>Sesama jamaah pengajian, moderasi otomatis, scam/judol/riba auto-hapus. Aman untuk pemula.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591"/>
                </a:solidFill>
                <a:latin typeface="Calibri"/>
              </a:rPr>
              <a:t>Untuk grassroots seller yang selama ini tertinggal dari revolusi e-commerce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MARKETPLACE JAMAAH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9260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CCD1E0"/>
                </a:solidFill>
                <a:latin typeface="Calibri"/>
              </a:rPr>
              <a:t>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EE7B7"/>
                </a:solidFill>
                <a:latin typeface="Calibri"/>
              </a:rPr>
              <a:t>IMPACT · BAGI MASYARAKAT (KOMUNITAS &amp; EKONOMI UMAT)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Memperkuat ekonomi umat.
Membangun komunitas digital yang halal.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94560"/>
            <a:ext cx="5120640" cy="3840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2286000"/>
            <a:ext cx="5760720" cy="868680"/>
          </a:xfrm>
          <a:prstGeom prst="roundRect">
            <a:avLst>
              <a:gd name="adj" fmla="val 8000"/>
            </a:avLst>
          </a:prstGeom>
          <a:solidFill>
            <a:srgbClr val="18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9572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B1020"/>
                </a:solidFill>
                <a:latin typeface="Calibri"/>
              </a:rPr>
              <a:t>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3774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Mempererat ikatan ekonomi umat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974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CCD9F0"/>
                </a:solidFill>
                <a:latin typeface="Calibri"/>
              </a:rPr>
              <a:t>Transaksi jual-beli berputar di dalam komunitas Muslim — uang tidak lari ke marketplace luar.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46120"/>
            <a:ext cx="5760720" cy="868680"/>
          </a:xfrm>
          <a:prstGeom prst="roundRect">
            <a:avLst>
              <a:gd name="adj" fmla="val 8000"/>
            </a:avLst>
          </a:prstGeom>
          <a:solidFill>
            <a:srgbClr val="18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3558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B1020"/>
                </a:solidFill>
                <a:latin typeface="Calibri"/>
              </a:rPr>
              <a:t>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3375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Trust-based commerce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6576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CCD9F0"/>
                </a:solidFill>
                <a:latin typeface="Calibri"/>
              </a:rPr>
              <a:t>Reputasi seller bukan rating bintang anonim, tapi nama yang dikenal di pengajian. Konflik diselesaikan secara kekeluargaan.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06240"/>
            <a:ext cx="5760720" cy="868680"/>
          </a:xfrm>
          <a:prstGeom prst="roundRect">
            <a:avLst>
              <a:gd name="adj" fmla="val 8000"/>
            </a:avLst>
          </a:prstGeom>
          <a:solidFill>
            <a:srgbClr val="18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31596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B1020"/>
                </a:solidFill>
                <a:latin typeface="Calibri"/>
              </a:rPr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297679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Scalable ke ribuan WAG lain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6177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CCD9F0"/>
                </a:solidFill>
                <a:latin typeface="Calibri"/>
              </a:rPr>
              <a:t>1 sistem bisa melayani 1.000+ WAG pengajian, masjid, RT/RW di Indonesia. Estimasi 50M+ jamaah aktif.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66360"/>
            <a:ext cx="5760720" cy="868680"/>
          </a:xfrm>
          <a:prstGeom prst="roundRect">
            <a:avLst>
              <a:gd name="adj" fmla="val 8000"/>
            </a:avLst>
          </a:prstGeom>
          <a:solidFill>
            <a:srgbClr val="18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27608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B1020"/>
                </a:solidFill>
                <a:latin typeface="Calibri"/>
              </a:rPr>
              <a:t>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2578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Inklusi digital tanpa kesenjangan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5778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CCD9F0"/>
                </a:solidFill>
                <a:latin typeface="Calibri"/>
              </a:rPr>
              <a:t>Lansia, ibu rumah tangga, daerah 3T — semua bisa partisipasi tanpa upgrade device atau learning curve.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334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CCD1E0"/>
                </a:solidFill>
                <a:latin typeface="Calibri"/>
              </a:rPr>
              <a:t>Visi: setiap WAG komunitas Muslim Indonesia jadi micro-marketplace yang aman &amp; produktif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D3A55"/>
                </a:solidFill>
                <a:latin typeface="Calibri"/>
              </a:rPr>
              <a:t>MARKETPLACE JAMAAH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9260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6B7591"/>
                </a:solidFill>
                <a:latin typeface="Calibri"/>
              </a:rPr>
              <a:t>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47857"/>
                </a:solidFill>
                <a:latin typeface="Calibri"/>
              </a:rPr>
              <a:t>MAPPING KE 4 PILAR QHOMEMART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0B1020"/>
                </a:solidFill>
                <a:latin typeface="Calibri"/>
              </a:rPr>
              <a:t>Setiap kriteria dipenuhi dengan bukti konkret.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2194560"/>
            <a:ext cx="3108960" cy="3840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2194560"/>
            <a:ext cx="3749039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4231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46887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1020"/>
                </a:solidFill>
                <a:latin typeface="Calibri"/>
              </a:rPr>
              <a:t>Berdampak pada Bisnis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63239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2D3A55"/>
                </a:solidFill>
                <a:latin typeface="Calibri"/>
              </a:rPr>
              <a:t>Production system aktif. Rp 27 Miliar inventory aktif, 268 listings, 275 jamaah ter-onboard, 132 listing baru/30 hari.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2194560"/>
            <a:ext cx="3749039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09159" y="24231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59" y="24871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46887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1020"/>
                </a:solidFill>
                <a:latin typeface="Calibri"/>
              </a:rPr>
              <a:t>Kolaborasi Terstruktur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3063239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2D3A55"/>
                </a:solidFill>
                <a:latin typeface="Calibri"/>
              </a:rPr>
              <a:t>16 agent · 5 layer (Listener/Brain/Perception/Action/Output) · Single-orchestrator pattern dengan handoff conditional di ProcessMessageJob.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69079"/>
            <a:ext cx="3749039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429767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616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19" y="434339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1020"/>
                </a:solidFill>
                <a:latin typeface="Calibri"/>
              </a:rPr>
              <a:t>Output Terukur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937759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2D3A55"/>
                </a:solidFill>
                <a:latin typeface="Calibri"/>
              </a:rPr>
              <a:t>agent_logs table simpan input_payload, output_payload, status, duration_ms, retry_count untuk SETIAP interaksi. 3.156 traces dalam 30 hari.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4069079"/>
            <a:ext cx="3749039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09159" y="429767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59" y="43616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434339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1020"/>
                </a:solidFill>
                <a:latin typeface="Calibri"/>
              </a:rPr>
              <a:t>Modular &amp; Reproducible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59" y="4937759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2D3A55"/>
                </a:solidFill>
                <a:latin typeface="Calibri"/>
              </a:rPr>
              <a:t>docker-compose up + migrate --seed + demo:pipeline = full stack jalan. LLM-agnostic. .env.example lengkap. Documented architecture.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591"/>
                </a:solidFill>
                <a:latin typeface="Calibri"/>
              </a:rPr>
              <a:t>Repo: github.com/jodyaryono/marketplacejamaah-ai · Submission deadline 30 Mei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MARKETPLACE JAMAAH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9260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CCD1E0"/>
                </a:solidFill>
                <a:latin typeface="Calibri"/>
              </a:rPr>
              <a:t>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EE7B7"/>
                </a:solidFill>
                <a:latin typeface="Calibri"/>
              </a:rPr>
              <a:t>MARI BERTEMU SISTEMNYA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63040"/>
            <a:ext cx="493776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325880"/>
            <a:ext cx="60350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0" b="1" i="0">
                <a:solidFill>
                  <a:srgbClr val="FFFFFF"/>
                </a:solidFill>
                <a:latin typeface="Calibri"/>
              </a:rPr>
              <a:t>Coba live.</a:t>
            </a:r>
          </a:p>
          <a:p>
            <a:pPr algn="l">
              <a:lnSpc>
                <a:spcPct val="105000"/>
              </a:lnSpc>
            </a:pPr>
            <a:r>
              <a:rPr sz="6000" b="1" i="0">
                <a:solidFill>
                  <a:srgbClr val="F59E0B"/>
                </a:solidFill>
                <a:latin typeface="Calibri"/>
              </a:rPr>
              <a:t>Tanya saya apa saja.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CCD9F0"/>
                </a:solidFill>
                <a:latin typeface="Calibri"/>
              </a:rPr>
              <a:t>Marketplace Jamaah AI sudah running real, melayani jamaah pengajian Indonesia. Kompetisi ini adalah momentum untuk men-skalakan ke ribuan WAG komunitas lain — masjid, RT/RW, halaqah, alumni — di seluruh Nusantara.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09160"/>
            <a:ext cx="2560320" cy="54864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81888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Live Demo  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4709160"/>
            <a:ext cx="2560320" cy="54864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481888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GitHub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86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59E0B"/>
                </a:solidFill>
                <a:latin typeface="Calibri"/>
              </a:rPr>
              <a:t>DEVELOPER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7150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Jody Aryono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5486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59E0B"/>
                </a:solidFill>
                <a:latin typeface="Calibri"/>
              </a:rPr>
              <a:t>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57150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jodyaryono@gmail.com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5486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59E0B"/>
                </a:solidFill>
                <a:latin typeface="Calibri"/>
              </a:rPr>
              <a:t>REG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57150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59E0B"/>
                </a:solidFill>
                <a:latin typeface="Consolas"/>
              </a:rPr>
              <a:t>WAGLI4HM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334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CCD1E0"/>
                </a:solidFill>
                <a:latin typeface="Calibri"/>
              </a:rPr>
              <a:t>QHomemart AI Agent Competition 2026 · Submission deadline 30 Mei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CCD1E0"/>
                </a:solidFill>
                <a:latin typeface="Calibri"/>
              </a:rPr>
              <a:t>Terima kasih · بَارَكَ ٱللَّٰهُ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